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3a4ce6637646dd" /><Relationship Type="http://schemas.openxmlformats.org/officeDocument/2006/relationships/extended-properties" Target="/docProps/app.xml" Id="Ra6123978f4ae4ed3" /><Relationship Type="http://schemas.openxmlformats.org/officeDocument/2006/relationships/officeDocument" Target="/ppt/presentation.xml" Id="Rb91646fb7d9c4b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707e7e2c364dc4"/>
  </p:sldMasterIdLst>
  <p:notesMasterIdLst>
    <p:notesMasterId xmlns:r="http://schemas.openxmlformats.org/officeDocument/2006/relationships" r:id="R3a9a1e59d770409c"/>
  </p:notesMasterIdLst>
  <p:sldIdLst>
    <p:sldId xmlns:r="http://schemas.openxmlformats.org/officeDocument/2006/relationships" id="256" r:id="R4019b3711578485b"/>
    <p:sldId xmlns:r="http://schemas.openxmlformats.org/officeDocument/2006/relationships" id="257" r:id="R475286c9f2904eb3"/>
    <p:sldId xmlns:r="http://schemas.openxmlformats.org/officeDocument/2006/relationships" id="258" r:id="R2bc2c208f14149bb"/>
    <p:sldId xmlns:r="http://schemas.openxmlformats.org/officeDocument/2006/relationships" id="259" r:id="Rdd71c8b5e02545d6"/>
    <p:sldId xmlns:r="http://schemas.openxmlformats.org/officeDocument/2006/relationships" id="260" r:id="Ra9148e0151a84942"/>
    <p:sldId xmlns:r="http://schemas.openxmlformats.org/officeDocument/2006/relationships" id="261" r:id="Rce96be47803f47de"/>
    <p:sldId xmlns:r="http://schemas.openxmlformats.org/officeDocument/2006/relationships" id="262" r:id="Rdb2a093018524290"/>
    <p:sldId xmlns:r="http://schemas.openxmlformats.org/officeDocument/2006/relationships" id="263" r:id="R11218a0980e44703"/>
    <p:sldId xmlns:r="http://schemas.openxmlformats.org/officeDocument/2006/relationships" id="264" r:id="Rd7b876dbffe544eb"/>
    <p:sldId xmlns:r="http://schemas.openxmlformats.org/officeDocument/2006/relationships" id="265" r:id="R0e25e95021b14a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fe7aa9987f4a1f" /><Relationship Type="http://schemas.openxmlformats.org/officeDocument/2006/relationships/slideMaster" Target="/ppt/slideMasters/slideMaster1.xml" Id="R3b707e7e2c364dc4" /><Relationship Type="http://schemas.openxmlformats.org/officeDocument/2006/relationships/notesMaster" Target="/ppt/notesMasters/notesMaster1.xml" Id="R3a9a1e59d770409c" /><Relationship Type="http://schemas.openxmlformats.org/officeDocument/2006/relationships/presProps" Target="/ppt/presProps.xml" Id="R97ef0fcfee954fb0" /><Relationship Type="http://schemas.openxmlformats.org/officeDocument/2006/relationships/tableStyles" Target="/ppt/tableStyles.xml" Id="R18f00e667e6c4f38" /><Relationship Type="http://schemas.openxmlformats.org/officeDocument/2006/relationships/slide" Target="/ppt/slides/slide1.xml" Id="R4019b3711578485b" /><Relationship Type="http://schemas.openxmlformats.org/officeDocument/2006/relationships/slide" Target="/ppt/slides/slide2.xml" Id="R475286c9f2904eb3" /><Relationship Type="http://schemas.openxmlformats.org/officeDocument/2006/relationships/slide" Target="/ppt/slides/slide3.xml" Id="R2bc2c208f14149bb" /><Relationship Type="http://schemas.openxmlformats.org/officeDocument/2006/relationships/slide" Target="/ppt/slides/slide4.xml" Id="Rdd71c8b5e02545d6" /><Relationship Type="http://schemas.openxmlformats.org/officeDocument/2006/relationships/slide" Target="/ppt/slides/slide5.xml" Id="Ra9148e0151a84942" /><Relationship Type="http://schemas.openxmlformats.org/officeDocument/2006/relationships/slide" Target="/ppt/slides/slide6.xml" Id="Rce96be47803f47de" /><Relationship Type="http://schemas.openxmlformats.org/officeDocument/2006/relationships/slide" Target="/ppt/slides/slide7.xml" Id="Rdb2a093018524290" /><Relationship Type="http://schemas.openxmlformats.org/officeDocument/2006/relationships/slide" Target="/ppt/slides/slide8.xml" Id="R11218a0980e44703" /><Relationship Type="http://schemas.openxmlformats.org/officeDocument/2006/relationships/slide" Target="/ppt/slides/slide9.xml" Id="Rd7b876dbffe544eb" /><Relationship Type="http://schemas.openxmlformats.org/officeDocument/2006/relationships/slide" Target="/ppt/slides/slide10.xml" Id="R0e25e95021b14a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a7b85f1ef4a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15c1cc0e049c6" /><Relationship Type="http://schemas.openxmlformats.org/officeDocument/2006/relationships/notesMaster" Target="/ppt/notesMasters/notesMaster1.xml" Id="R48754baa07374a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c80fd407249ee" /><Relationship Type="http://schemas.openxmlformats.org/officeDocument/2006/relationships/notesMaster" Target="/ppt/notesMasters/notesMaster1.xml" Id="Re709cc3c6afb49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47fdf99d454693" /><Relationship Type="http://schemas.openxmlformats.org/officeDocument/2006/relationships/notesMaster" Target="/ppt/notesMasters/notesMaster1.xml" Id="R9521eec8b27043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ede88594124ce6" /><Relationship Type="http://schemas.openxmlformats.org/officeDocument/2006/relationships/notesMaster" Target="/ppt/notesMasters/notesMaster1.xml" Id="R4b5da8ce0def4b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44d1f9120148aa" /><Relationship Type="http://schemas.openxmlformats.org/officeDocument/2006/relationships/notesMaster" Target="/ppt/notesMasters/notesMaster1.xml" Id="Rcfbd62aa965142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46bc7878c41f8" /><Relationship Type="http://schemas.openxmlformats.org/officeDocument/2006/relationships/notesMaster" Target="/ppt/notesMasters/notesMaster1.xml" Id="R92cebca687b44a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ff2fd8632e4940" /><Relationship Type="http://schemas.openxmlformats.org/officeDocument/2006/relationships/notesMaster" Target="/ppt/notesMasters/notesMaster1.xml" Id="R59aafe8cba6c4b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9a212075034e31" /><Relationship Type="http://schemas.openxmlformats.org/officeDocument/2006/relationships/notesMaster" Target="/ppt/notesMasters/notesMaster1.xml" Id="Rdd672f9dd21845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c42fde35eb4905" /><Relationship Type="http://schemas.openxmlformats.org/officeDocument/2006/relationships/notesMaster" Target="/ppt/notesMasters/notesMaster1.xml" Id="Re3329fdfcd7247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e1735a018b4d9b" /><Relationship Type="http://schemas.openxmlformats.org/officeDocument/2006/relationships/notesMaster" Target="/ppt/notesMasters/notesMaster1.xml" Id="Rbaa658300cf14b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0:00–0:15. «Мы представляем Qostanai Twin, прототип цифрового двойника участка сборки. Он показывает состояние линии и оценивает, как время восстановления поста меняет итог смены». Команда представляется устно. Слайды 1–8 составляют основное выступление. Слайды 9–10 — приложение. Даты: первичный отбор 9 октября и Demo Day 16 октября 2026 года, по информации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0:15–0:35. «Если P03 остановился, перед ним копятся изделия, а следующие посты остаются без работы. Руководителю нужно видеть не только красный индикатор, но и риск для плана смены. Мы связываем состояние поста, очереди и прогноз выпуска в одной модели». Это поведение учебной последовательной линии, не описание подтверждённой схемы завода.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0:35–0:50. «В MVP есть пять постов, четыре буфера, показатели смены и журнал инцидентов. Сейчас покажем один сценарий от остановки до сравнения вариантов». Затем переключиться в приложение на две минуты. Скриншот: outputs/qostanai-twin-v0.3-analytics.png, сохранённый экран версии 0.3; мониторинг и сценарии также входят в 0.4. Здесь не показан новый экран импорта. Данные на изображении синтетические.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2:50–3:15. «В одинаковом состоянии на 09:00 модель даёт 39 годных изделий, если P03 не восстановить до конца смены, 421 при восстановлении сейчас и 394 через 30 минут. Разница между двумя сроками восстановления — 27 изделий. Это результат заданной модели, а не обещание эффекта на АЛЛЮР». P03 остановлен в 08:45, после остановки прошло 15 минут, смена заканчивается в 16:00, план 410. Источник: docs/comparison.example.json, results.good и summary.delayLoss.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3:15–3:40. «Браузер получает состояние раз в секунду. Модель и часы работают на сервере, поэтому вкладки видят одну линию. SQLite сохраняет состояние, события и импорты. Сценарии считаются на копиях, рабочая линия при этом не меняется. Следующий интеграционный шаг — адаптер чтения данных предприятия». Источники: backend/api.py, service.py, storage.py, analysis.py, history_import.py и docs/INTEGRATION.md.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3:40–4:05. «Импорт проверяет строки CSV и сохраняет смену. На исторических срезах мы сравниваем прогноз с итогом, не передавая в расчёт будущие строки. В учебном примере простой прогноз по темпу точнее. Это видно в отчёте. Модель сохраняет текущие режимы, поэтому неизвестный ей будущий ремонт меняет итог. Мы показываем границы метода и будем настраивать его только после получения реальных данных». Источник: docs/history.example.json и docs/HISTORY_IMPORT.md. MAE модели 134.67, MAE по темпу 21, три среза 2/4/6 часов. Итог CSV: 390 годных, 16 бракованных, 33 записи. Синтетический генератор использует подачу 68 с против 65 с в прогнозирующей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4:05–4:30. «Польза MVP — быстрее оценить, что означает инцидент для выпуска, и сравнить сроки восстановления. В пилоте измеряем время реакции, длительность остановок и отклонение от плана. Денежный эффект посчитаем по согласованному вкладу дополнительного изделия и фактическим затратам. Сейчас у нас нет оснований обещать процент экономии». Все перечисленные показатели пилота являются предлагаемым планом измерений. Денежные значения и сокращение простоев пока не измерялись.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4:30–5:00. «Мы предлагаем начать пилот с одного участка. Нужны схема, нормативы, история режимов и выпуска, а также инженер для проверки модели. К отбору показываем готовый воспроизводимый сценарий. К Demo Day 16 октября предлагаем согласовать параметры и провести первые проверки на данных, если они будут доступны. Результат пилота — измеренная пригодность прогноза и понятный путь интеграции». План зависит от доступа к данным; это предложение, а не подтверждённое соглашение с организатором.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Открывать при вопросе о точности и использовании будущих данных. Итог смены 390 изделий. Модель на срезах прогнозирует 101/308/357, базовый темп 405/428/400. Ошибка = прогноз − 390. Модель MAE=(289+82+33)/3=134.67; базовый MAE=(15+38+10)/3=21. Контрольные срезы совпадают с появлением ограничений в учебном сценарии. При сохранении этих режимов до конца смены модель выдаёт низкий прогноз, а последующие ремонты в факте повышают выпуск. Источник: docs/history.example.json, checkpoints.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Ответы короткие, затем показать соответствующий экран или пример. «Где ИИ?» — пока нет обученной модели, работает детерминированная модель потока; машинное обучение имеет смысл после истории и проверки на независимых сменах. «Это двойник завода?» — прототип одного участка с очередями, незавершёнными операциями и режимами; схема завода ещё не получена. «Подключено к оборудованию?» — нет, симуляция и CSV, только локальный запуск. «Чем подтверждена работа?» — 50 автоматических тестов и сборка, проверка реального API. Новый экран CSV 0.4 не прошёл отдельную визуальную проверку инструментом из-за ошибки среды, поэтому перед защитой нужна ручная репетиция. Источник: docs/VERIFICATION.md,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в проекте outputs/qostanai-twin/: README.md, backend/model.py, docs/INTEGRATION.md. Описание кейса и даты предоставлены пользователем.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de73da2f3d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347e44c80a4468" /><Relationship Type="http://schemas.openxmlformats.org/officeDocument/2006/relationships/slideLayout" Target="/ppt/slideLayouts/slideLayout1.xml" Id="R3a546b46b58446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46b46b58446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247085cc54e65" /><Relationship Type="http://schemas.openxmlformats.org/officeDocument/2006/relationships/image" Target="/ppt/media/image.png" Id="Re26672f88f4e44f5" /><Relationship Type="http://schemas.openxmlformats.org/officeDocument/2006/relationships/image" Target="/ppt/media/image.svg" Id="Rc3e7908bffa84366" /><Relationship Type="http://schemas.openxmlformats.org/officeDocument/2006/relationships/notesSlide" Target="/ppt/notesSlides/notesSlide1.xml" Id="R3ec0df872f0e40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e4a801e844ff4" /><Relationship Type="http://schemas.openxmlformats.org/officeDocument/2006/relationships/notesSlide" Target="/ppt/notesSlides/notesSlide2.xml" Id="R82965962898146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52df014b84640" /><Relationship Type="http://schemas.openxmlformats.org/officeDocument/2006/relationships/image" Target="/ppt/media/image.jpeg" Id="R2d2174b77c2d4ee7" /><Relationship Type="http://schemas.openxmlformats.org/officeDocument/2006/relationships/notesSlide" Target="/ppt/notesSlides/notesSlide3.xml" Id="R8f74a2606f284f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3d9343ba14437" /><Relationship Type="http://schemas.openxmlformats.org/officeDocument/2006/relationships/chart" Target="/ppt/slides/charts/chart1.xml" Id="R40599c20ce9b4524" /><Relationship Type="http://schemas.openxmlformats.org/officeDocument/2006/relationships/notesSlide" Target="/ppt/notesSlides/notesSlide4.xml" Id="R800118a095cf4d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ada379850464d" /><Relationship Type="http://schemas.openxmlformats.org/officeDocument/2006/relationships/notesSlide" Target="/ppt/notesSlides/notesSlide5.xml" Id="R9e722d8d9e9d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e789f2c794aff" /><Relationship Type="http://schemas.openxmlformats.org/officeDocument/2006/relationships/notesSlide" Target="/ppt/notesSlides/notesSlide6.xml" Id="Ra86f1c0bcbee41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ede5bc8d04ec4" /><Relationship Type="http://schemas.openxmlformats.org/officeDocument/2006/relationships/notesSlide" Target="/ppt/notesSlides/notesSlide7.xml" Id="R26e907301e594c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a85fcdf1e430a" /><Relationship Type="http://schemas.openxmlformats.org/officeDocument/2006/relationships/notesSlide" Target="/ppt/notesSlides/notesSlide8.xml" Id="R9af56c9d3f2d40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3136e433a44a6" /><Relationship Type="http://schemas.openxmlformats.org/officeDocument/2006/relationships/notesSlide" Target="/ppt/notesSlides/notesSlide9.xml" Id="Raa721cafcbff4e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f632b998b4a81" /><Relationship Type="http://schemas.openxmlformats.org/officeDocument/2006/relationships/notesSlide" Target="/ppt/notesSlides/notesSlide10.xml" Id="Rdecd5b0c26ce420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Годные изделия к 16:00</c:v>
          </c:tx>
          <c:spPr>
            <a:solidFill xmlns:a="http://schemas.openxmlformats.org/drawingml/2006/main">
              <a:srgbClr val="34755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F935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47553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D8A9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Без восстановления</c:v>
                </c:pt>
                <c:pt idx="1">
                  <c:v>Сейчас</c:v>
                </c:pt>
                <c:pt idx="2">
                  <c:v>Через 30 минут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39</c:v>
                </c:pt>
                <c:pt idx="1">
                  <c:v>421</c:v>
                </c:pt>
                <c:pt idx="2">
                  <c:v>394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8372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5D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D5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5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2C57E6E7-FBA6-4EF0-B155-7633470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8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298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24CEA0-C5BA-4ADC-9A76-F84ED17C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C3EF7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C3EF78"/>
                </a:solidFill>
                <a:latin typeface="Arial"/>
                <a:ea typeface="Arial"/>
                <a:cs typeface="Arial"/>
              </a:rPr>
              <a:t>Qostanai Twin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05AAC3-0ABB-4475-BE87-82650B69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Цифровой двойник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участка сборки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954EDB1-5D4B-499A-870B-3A5EA05E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C6D5C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6D5C4"/>
                </a:solidFill>
                <a:latin typeface="Arial"/>
                <a:ea typeface="Arial"/>
                <a:cs typeface="Arial"/>
              </a:rPr>
              <a:t>Состояние линии и последствия решений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60A5901-EE2F-49DE-8A04-860180E5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8BDA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DAD"/>
                </a:solidFill>
                <a:latin typeface="Arial"/>
                <a:ea typeface="Arial"/>
                <a:cs typeface="Arial"/>
              </a:rPr>
              <a:t>Qostanai Industry Hackathon</a:t>
            </a:r>
          </a:p>
          <a:p xmlns:a="http://schemas.openxmlformats.org/drawingml/2006/main">
            <a:pPr>
              <a:defRPr sz="1800" b="0">
                <a:solidFill>
                  <a:srgbClr val="A8BDA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DAD"/>
                </a:solidFill>
                <a:latin typeface="Arial"/>
                <a:ea typeface="Arial"/>
                <a:cs typeface="Arial"/>
              </a:rPr>
              <a:t>Кейс 2 АО «Группа компаний АЛЛЮР»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6405D8C-DF05-4B5B-AF32-C19E2958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952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DA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BDAD"/>
                </a:solidFill>
                <a:latin typeface="Arial"/>
                <a:ea typeface="Arial"/>
                <a:cs typeface="Arial"/>
              </a:rPr>
              <a:t>Первичный отбор 9 октября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672f88f4e44f5">
            <a:extLst>
              <a:ext uri="{96DAC541-7B7A-43D3-8B79-37D633B846F1}">
                <asvg:svgBlip xmlns:asvg="http://schemas.microsoft.com/office/drawing/2016/SVG/main" r:embed="Rc3e7908bffa843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0" y="904875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08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8854907-3CBC-4D5B-A63F-6BCD278C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Остановка поста влияет на всю линию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AA23B54-84B8-4793-920D-5981BCD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0373344-9023-4CC5-87B6-F97D6AC8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000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P03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D5895A5-D3EF-4EB5-92D2-D87E56F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Остановленный пост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38B6A0A-5796-46D8-8993-8A6BF51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Один инцидент</a:t>
            </a:r>
          </a:p>
          <a:p xmlns:a="http://schemas.openxmlformats.org/drawingml/2006/main">
            <a:pPr>
              <a:defRPr sz="2250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затрагивает соседние операции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577F54D-5374-4E7D-B9D5-E0DEA05F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Перед постом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D6F1328-266A-44AF-AF41-2928CAE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Очередь заполняет буферы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C0CE540-64EE-4EFA-9993-5C0159CA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После поста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320E0D8-9DFD-46C7-A6B0-6D045D6B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Оборудование ждёт изделия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6AF4C93D-A297-487C-8A7B-50538FB6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44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Решение руководителя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FB6ECA8-DE22-4EC5-B024-7C925CCE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5238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Когда восстановить пост,</a:t>
            </a:r>
          </a:p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чтобы сохранить выпуск?</a:t>
            </a:r>
          </a:p>
        </p:txBody>
      </p:sp>
    </p:spTree>
    <p:extLst>
      <p:ext uri="{BB962C8B-B14F-4D97-AF65-F5344CB8AC3E}">
        <p14:creationId xmlns:p14="http://schemas.microsoft.com/office/powerpoint/2010/main" val="1619219404"/>
      </p:ext>
    </p:extLst>
  </p:cSld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6F8F2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ext-0">
            <ns1:extLst>
              <ns1:ext uri="{FF2B5EF4-FFF2-40B4-BE49-F238E27FC236}">
                <ns2:creationId id="{90A164F2-B4CA-49F6-BAD6-CFBB85933A25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57200"/>
            <ns1:ext cx="10820400" cy="10858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450" b="1">
                <ns1:solidFill>
                  <ns1:srgbClr val="18372C"/>
                </ns1:solidFill>
                <ns1:latin typeface="Arial"/>
                <ns1:ea typeface="Arial"/>
                <ns1:cs typeface="Arial"/>
              </ns1:defRPr>
            </ns1:pPr>
            <ns1:r>
              <ns1:rPr sz="3450" b="1">
                <ns1:solidFill>
                  <ns1:srgbClr val="18372C"/>
                </ns1:solidFill>
                <ns1:latin typeface="Arial"/>
                <ns1:ea typeface="Arial"/>
                <ns1:cs typeface="Arial"/>
              </ns1:rPr>
              <ns1:t>Рабочий прототип</ns1:t>
            </ns1:r>
          </ns1:p>
        </ns0:txBody>
      </ns0:sp>
      <ns0:sp>
        <ns0:nvSpPr>
          <ns0:cNvPr id="2" name="text-1">
            <ns1:extLst>
              <ns1:ext uri="{FF2B5EF4-FFF2-40B4-BE49-F238E27FC236}">
                <ns2:creationId id="{D68FE654-6836-40B8-8551-A69C6B4E3DE2}"/>
              </ns1:ext>
            </ns1:extLst>
          </ns0:cNvPr>
          <ns0:cNvSpPr>
            <ns1:spLocks noGrp="1"/>
          </ns0:cNvSpPr>
          <ns0:nvPr/>
        </ns0:nvSpPr>
        <ns0:spPr>
          <ns1:xfrm>
            <ns1:off x="11239500" y="6410325"/>
            <ns1:ext cx="41910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75" b="0">
                <ns1:solidFill>
                  <ns1:srgbClr val="617765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617765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pic>
        <ns0:nvPicPr>
          <ns0:cNvPr id="8" name=""/>
          <ns0:cNvPicPr>
            <ns1:picLocks noChangeAspect="1"/>
          </ns0:cNvPicPr>
          <ns0:nvPr/>
        </ns0:nvPicPr>
        <ns0:blipFill>
          <ns1:blip ns3:embed="R2d2174b77c2d4ee7"/>
          <ns1:srcRect l="15348" t="20135" r="23259" b="66996"/>
          <ns1:stretch>
            <ns1:fillRect l="0" t="0" r="0" b="0"/>
          </ns1:stretch>
        </ns0:blipFill>
        <ns0:spPr>
          <ns1:xfrm>
            <ns1:off x="685800" y="1714500"/>
            <ns1:ext cx="10820400" cy="4000500"/>
          </ns1:xfrm>
          <ns1:prstGeom prst="rect">
            <ns1:avLst/>
          </ns1:prstGeom>
        </ns0:spPr>
      </ns0:pic>
      <ns0:sp>
        <ns0:nvSpPr>
          <ns0:cNvPr id="4" name="text-2">
            <ns1:extLst>
              <ns1:ext uri="{FF2B5EF4-FFF2-40B4-BE49-F238E27FC236}">
                <ns2:creationId id="{C7F97E8B-0E03-43DC-9926-BF7868E441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5953125"/>
            <ns1:ext cx="10820400" cy="3524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950" b="1">
                <ns1:solidFill>
                  <ns1:srgbClr val="18372C"/>
                </ns1:solidFill>
                <ns1:latin typeface="Arial"/>
                <ns1:ea typeface="Arial"/>
                <ns1:cs typeface="Arial"/>
              </ns1:defRPr>
            </ns1:pPr>
            <ns1:r>
              <ns1:rPr sz="1950" b="1">
                <ns1:solidFill>
                  <ns1:srgbClr val="18372C"/>
                </ns1:solidFill>
                <ns1:latin typeface="Arial"/>
                <ns1:ea typeface="Arial"/>
                <ns1:cs typeface="Arial"/>
              </ns1:rPr>
              <ns1:t>Остановка P03: очереди перед постом, ожидание после него</ns1:t>
            </ns1:r>
          </ns1:p>
        </ns0:txBody>
      </ns0:sp>
      <ns0:sp>
        <ns0:nvSpPr>
          <ns0:cNvPr id="5" name="text-3">
            <ns1:extLst>
              <ns1:ext uri="{FF2B5EF4-FFF2-40B4-BE49-F238E27FC236}">
                <ns2:creationId id="{066F0715-0D9E-4A5C-AF90-6FA9B89FF2B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72225"/>
            <ns1:ext cx="100012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425" b="0">
                <ns1:solidFill>
                  <ns1:srgbClr val="617765"/>
                </ns1:solidFill>
                <ns1:latin typeface="Arial"/>
                <ns1:ea typeface="Arial"/>
                <ns1:cs typeface="Arial"/>
              </ns1:defRPr>
            </ns1:pPr>
            <ns1:r>
              <ns1:rPr sz="1425" b="0">
                <ns1:solidFill>
                  <ns1:srgbClr val="617765"/>
                </ns1:solidFill>
                <ns1:latin typeface="Arial"/>
                <ns1:ea typeface="Arial"/>
                <ns1:cs typeface="Arial"/>
              </ns1:rPr>
              <ns1:t>Демонстрационная модель. Далее живой показ на 2 минуты.</ns1:t>
            </ns1:r>
          </ns1:p>
        </ns0:txBody>
      </ns0:sp>
    </ns0:spTree>
    <ns0:extLst>
      <ns0:ext uri="{BB962C8B-B14F-4D97-AF65-F5344CB8AC3E}">
        <ns4:creationId val="109864051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CC9D136C-C3AC-4D4E-8523-904D89D9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Время восстановления меняет выпуск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C3B7DE5-F572-4EF7-AA37-7E829DA3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7286625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599c20ce9b4524"/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867C8C4-B1BA-4E3A-8856-CB606CB1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76450"/>
            <a:ext cx="25241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0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9000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C1E5037-A72B-4AB1-9150-A3C1A92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14750"/>
            <a:ext cx="2619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годных изделий</a:t>
            </a:r>
          </a:p>
          <a:p xmlns:a="http://schemas.openxmlformats.org/drawingml/2006/main">
            <a:pPr>
              <a:defRPr sz="217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стоит ожидание</a:t>
            </a:r>
          </a:p>
          <a:p xmlns:a="http://schemas.openxmlformats.org/drawingml/2006/main">
            <a:pPr>
              <a:defRPr sz="217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30 минут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36CEEF8-CAA9-4610-AB17-A9B94537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План смены: 410 изделий. Сравнение на срезе 09:00.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2C60242-4ABE-4F4D-988F-EBDE3CCC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Синтетические данные. Восстановление мгновенно возвращает нормативный цикл.</a:t>
            </a:r>
          </a:p>
        </p:txBody>
      </p:sp>
    </p:spTree>
    <p:extLst>
      <p:ext uri="{BB962C8B-B14F-4D97-AF65-F5344CB8AC3E}">
        <p14:creationId xmlns:p14="http://schemas.microsoft.com/office/powerpoint/2010/main" val="1352432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516EDB9-5FAD-4780-B3E5-FB2669E5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Архитектура MVP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DE28B7-9F2F-4901-9CE6-8B02ACD0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2762250"/>
                <a:gridCol w="5819775"/>
              </a:tblGrid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Слой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Реализация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делает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Интерфейс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React + TypeScript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Схема линии, показатели и сценарии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Сервер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FastAPI + Python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Общие часы и модель потока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Хранилище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SQLite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Состояние, инциденты, история CSV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Аналитика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Копии состояния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Прогноз и сравнение вариантов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99FD00E-2E42-4B52-BA6C-5A49E99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Данные сейчас: симулятор и импорт CSV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3F3B20C-BF5C-4A35-9D09-9ED6C2BF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Пилот потребует адаптера чтения и согласования параметров линии.</a:t>
            </a:r>
          </a:p>
        </p:txBody>
      </p:sp>
    </p:spTree>
    <p:extLst>
      <p:ext uri="{BB962C8B-B14F-4D97-AF65-F5344CB8AC3E}">
        <p14:creationId xmlns:p14="http://schemas.microsoft.com/office/powerpoint/2010/main" val="1289909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CEF5E2E-529B-4CB9-89F9-F91EF507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Проверка прогноза на истории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C3782E7-CF28-4897-8BEA-F6431B5A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A47DC1-7B21-484A-A08B-227E25A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33 записи одной учебной смены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343150"/>
          <a:ext xmlns:a="http://schemas.openxmlformats.org/drawingml/2006/main" cx="1082040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667500"/>
                <a:gridCol w="41529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Средняя абсолютная ошибка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Модель при сохранении режимов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134,67 изделия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Продолжение темпа за последний час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21 изделие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524C25D-F6DA-4C4D-9781-D482ABB4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На этих срезах прогноз по темпу оказался точнее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E598913-F8F5-4117-BC0C-B0715F37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Будущие ремонты неизвестны прогнозу. Это проверка на синтетике,</a:t>
            </a:r>
          </a:p>
          <a:p xmlns:a="http://schemas.openxmlformats.org/drawingml/2006/main">
            <a:pPr>
              <a:defRPr sz="1800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а не подтверждение точности на заводе.</a:t>
            </a:r>
          </a:p>
        </p:txBody>
      </p:sp>
    </p:spTree>
    <p:extLst>
      <p:ext uri="{BB962C8B-B14F-4D97-AF65-F5344CB8AC3E}">
        <p14:creationId xmlns:p14="http://schemas.microsoft.com/office/powerpoint/2010/main" val="339239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AF11285-4EC8-4A67-BFC2-CD936A91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Эффект для производства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DDB407-D0B3-4C35-8D16-E4B71D7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D2EFABA-5F30-445C-A4C7-1A2ADE92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Что меняется в работе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6F3BEB7-DCF7-4432-BE2D-825E783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7625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Начальник смены видит</a:t>
            </a:r>
          </a:p>
          <a:p xmlns:a="http://schemas.openxmlformats.org/drawingml/2006/main">
            <a:pPr>
              <a:defRPr sz="25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последствия остановки</a:t>
            </a:r>
          </a:p>
          <a:p xmlns:a="http://schemas.openxmlformats.org/drawingml/2006/main">
            <a:pPr>
              <a:defRPr sz="25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и сравнивает время</a:t>
            </a:r>
          </a:p>
          <a:p xmlns:a="http://schemas.openxmlformats.org/drawingml/2006/main">
            <a:pPr>
              <a:defRPr sz="25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восстановления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EBBC64A-DD34-4C23-B05A-C2E1B94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Что измерим в пилоте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59F8D11-F328-4C89-A9E1-7EC1B314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509587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Время реакции на инцидент</a:t>
            </a:r>
          </a:p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Длительность остановок</a:t>
            </a:r>
          </a:p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Отклонение от плана</a:t>
            </a:r>
          </a:p>
          <a:p xmlns:a="http://schemas.openxmlformats.org/drawingml/2006/main">
            <a:pPr>
              <a:defRPr sz="225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Ошибка прогноза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B77F18A-185A-4C17-960C-9242AB8E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Оценка денежного эффекта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6A8444C-7C54-4273-B750-12F43BCE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Дополнительный выпуск × вклад на изделие − затраты на меры</a:t>
            </a:r>
          </a:p>
        </p:txBody>
      </p:sp>
    </p:spTree>
    <p:extLst>
      <p:ext uri="{BB962C8B-B14F-4D97-AF65-F5344CB8AC3E}">
        <p14:creationId xmlns:p14="http://schemas.microsoft.com/office/powerpoint/2010/main" val="828409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D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0FE8F966-6C1A-4943-8738-1490118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Пилот на одном участке АЛЛЮР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A547589-EB4C-4EAB-A863-F937EA44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2988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2988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20E442E-1059-44FC-AF27-9741BFC1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3E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3EF78"/>
                </a:solidFill>
                <a:latin typeface="Arial"/>
                <a:ea typeface="Arial"/>
                <a:cs typeface="Arial"/>
              </a:rPr>
              <a:t>Для начала нужны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E1166F-93AC-4EB9-A762-EADC7FA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2390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Схема и нормативы участка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История выпуска и режимов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Планы смен и данные качества</a:t>
            </a:r>
          </a:p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Инженер для проверки модели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BC9202A-93E6-4EAA-82FC-3C590D83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14525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3EF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3EF78"/>
                </a:solidFill>
                <a:latin typeface="Arial"/>
                <a:ea typeface="Arial"/>
                <a:cs typeface="Arial"/>
              </a:rPr>
              <a:t>9 октября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FBE2056-1D66-496F-B59A-909F09F3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76525"/>
            <a:ext cx="276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8D8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8D8C6"/>
                </a:solidFill>
                <a:latin typeface="Arial"/>
                <a:ea typeface="Arial"/>
                <a:cs typeface="Arial"/>
              </a:rPr>
              <a:t>Отбор</a:t>
            </a:r>
          </a:p>
          <a:p xmlns:a="http://schemas.openxmlformats.org/drawingml/2006/main">
            <a:pPr>
              <a:defRPr sz="2175" b="0">
                <a:solidFill>
                  <a:srgbClr val="C8D8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8D8C6"/>
                </a:solidFill>
                <a:latin typeface="Arial"/>
                <a:ea typeface="Arial"/>
                <a:cs typeface="Arial"/>
              </a:rPr>
              <a:t>и показ MVP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99EC358-18DD-40D7-9D15-A4B70B47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624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3EF7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3EF78"/>
                </a:solidFill>
                <a:latin typeface="Arial"/>
                <a:ea typeface="Arial"/>
                <a:cs typeface="Arial"/>
              </a:rPr>
              <a:t>16 октября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C7DBD4-11DC-4B51-95D2-5D5AE8AB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8D8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8D8C6"/>
                </a:solidFill>
                <a:latin typeface="Arial"/>
                <a:ea typeface="Arial"/>
                <a:cs typeface="Arial"/>
              </a:rPr>
              <a:t>Demo Day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D2A86FE-4C1B-41CD-8787-4ADA117F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 показать MVP и согласовать границы пилота</a:t>
            </a:r>
          </a:p>
        </p:txBody>
      </p:sp>
    </p:spTree>
    <p:extLst>
      <p:ext uri="{BB962C8B-B14F-4D97-AF65-F5344CB8AC3E}">
        <p14:creationId xmlns:p14="http://schemas.microsoft.com/office/powerpoint/2010/main" val="1609596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445E878-84F6-4E45-9277-51C9F080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Приложение: прогнозы на срезах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F1DDDA6-D1B3-4426-A1C6-0E7CA85E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2876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1809750"/>
                <a:gridCol w="2190750"/>
                <a:gridCol w="2000250"/>
                <a:gridCol w="3390900"/>
              </a:tblGrid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Срез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 темпу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Итог CSV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Ошибка модели</a:t>
                      </a:r>
                    </a:p>
                  </a:txBody>
                  <a:tcPr marL="152400" marR="152400" marT="95250" marB="95250">
                    <a:solidFill>
                      <a:srgbClr val="122D27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2 ч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101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405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390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-289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4 ч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308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428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390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-82</a:t>
                      </a:r>
                    </a:p>
                  </a:txBody>
                  <a:tcPr marL="152400" marR="152400" marT="95250" marB="95250">
                    <a:solidFill>
                      <a:srgbClr val="EDF2E7"/>
                    </a:solidFill>
                  </a:tcPr>
                </a:tc>
              </a:tr>
              <a:tr h="7191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6 ч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357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390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8372C"/>
                          </a:solidFill>
                          <a:latin typeface="Arial"/>
                          <a:ea typeface="Arial"/>
                          <a:cs typeface="Arial"/>
                        </a:rPr>
                        <a:t>-33</a:t>
                      </a:r>
                    </a:p>
                  </a:txBody>
                  <a:tcPr marL="152400" marR="1524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BB6D6C1-23E6-4A09-B555-1E1CDC6F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Каждый прогноз использует только данные до своего среза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0E3FDD8-BF39-4169-B1C6-D88DF8C6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Кривые воспроизведения всей смены и прогнозы на прошлых срезах</a:t>
            </a:r>
          </a:p>
          <a:p xmlns:a="http://schemas.openxmlformats.org/drawingml/2006/main">
            <a:pPr>
              <a:defRPr sz="172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решают разные задачи. Будущие строки используются только для оценки ошибки.</a:t>
            </a:r>
          </a:p>
        </p:txBody>
      </p:sp>
    </p:spTree>
    <p:extLst>
      <p:ext uri="{BB962C8B-B14F-4D97-AF65-F5344CB8AC3E}">
        <p14:creationId xmlns:p14="http://schemas.microsoft.com/office/powerpoint/2010/main" val="1983015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71A3985-B94D-4E9C-A734-442240F1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8372C"/>
                </a:solidFill>
                <a:latin typeface="Arial"/>
                <a:ea typeface="Arial"/>
                <a:cs typeface="Arial"/>
              </a:rPr>
              <a:t>Приложение: вопросы жюри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AA2B90A-82B0-4716-8AF1-C24431EA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8885FF4-819F-4C54-A01E-C308E13D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Где ИИ?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71812BF-5868-444A-BD49-A259761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7086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Пока работает детерминированная модель потока.</a:t>
            </a:r>
          </a:p>
          <a:p xmlns:a="http://schemas.openxmlformats.org/drawingml/2006/main">
            <a:pPr>
              <a:defRPr sz="202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Обученной модели нет.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083ED48-3764-4BB1-9126-78192636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Насколько полон двойник?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6B5F05-4851-4C14-B919-2E4D6B67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33725"/>
            <a:ext cx="708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Пять последовательных постов и четыре буфера.</a:t>
            </a:r>
          </a:p>
          <a:p xmlns:a="http://schemas.openxmlformats.org/drawingml/2006/main">
            <a:pPr>
              <a:defRPr sz="202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Параметры условные, схема завода ещё нужна.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A96F4D-7BC8-462E-A1AB-A1B0CAB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475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47553"/>
                </a:solidFill>
                <a:latin typeface="Arial"/>
                <a:ea typeface="Arial"/>
                <a:cs typeface="Arial"/>
              </a:rPr>
              <a:t>Есть связь с оборудованием?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C73ED8D-ABE1-4DE7-97AA-F3990F67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7086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Сейчас доступны симулятор и CSV.</a:t>
            </a:r>
          </a:p>
          <a:p xmlns:a="http://schemas.openxmlformats.org/drawingml/2006/main">
            <a:pPr>
              <a:defRPr sz="2025" b="0">
                <a:solidFill>
                  <a:srgbClr val="18372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372C"/>
                </a:solidFill>
                <a:latin typeface="Arial"/>
                <a:ea typeface="Arial"/>
                <a:cs typeface="Arial"/>
              </a:rPr>
              <a:t>Для предприятия нужен адаптер чтения данных.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053AAD7-56D0-43F0-8C30-B3C0806E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177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7765"/>
                </a:solidFill>
                <a:latin typeface="Arial"/>
                <a:ea typeface="Arial"/>
                <a:cs typeface="Arial"/>
              </a:rPr>
              <a:t>Первый шаг проверки: независимые смены с реальными параметрами участка.</a:t>
            </a:r>
          </a:p>
        </p:txBody>
      </p:sp>
    </p:spTree>
    <p:extLst>
      <p:ext uri="{BB962C8B-B14F-4D97-AF65-F5344CB8AC3E}">
        <p14:creationId xmlns:p14="http://schemas.microsoft.com/office/powerpoint/2010/main" val="839577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2026-10-03T13:34:37.7460000Z</dcterms:created>
  <dcterms:modified xsi:type="dcterms:W3CDTF">2026-10-03T13:34:37.7460000Z</dcterms:modified>
</coreProperties>
</file>